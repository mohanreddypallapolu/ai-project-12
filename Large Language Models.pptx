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</ns0:sldIdLst>
  <ns0:sldSz cx="12192000" cy="6858000" type="screen4x3"/>
  <ns0:notesSz cx="6858000" cy="9144000"/>
  <ns0:embeddedFontLst>
    <ns0:embeddedFont>
      <ns0:font typeface="Space Grotesk"/>
      <ns0:bold ns1:id="rIdFont12"/>
      <ns0:regular ns1:id="rIdFont13"/>
    </ns0:embeddedFont>
    <ns0:embeddedFont>
      <ns0:font typeface="Inter"/>
      <ns0:bold ns1:id="rIdFont14"/>
      <ns0:regular ns1:id="rIdFont1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Font12" Type="http://schemas.openxmlformats.org/officeDocument/2006/relationships/font" Target="fonts/251d5ba0-4e9f-42ce-a035-15062aeb7822.fntdata" /><ns0:Relationship Id="rIdFont13" Type="http://schemas.openxmlformats.org/officeDocument/2006/relationships/font" Target="fonts/8847dc82-c5d2-41a4-9599-aa6423859098.fntdata" /><ns0:Relationship Id="rIdFont14" Type="http://schemas.openxmlformats.org/officeDocument/2006/relationships/font" Target="fonts/9f00594e-99a1-40ad-b3b3-2bf2113d608e.fntdata" /><ns0:Relationship Id="rIdFont15" Type="http://schemas.openxmlformats.org/officeDocument/2006/relationships/font" Target="fonts/d28fa2ae-4bfc-4e1e-acb1-91aaafc72f02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354710"/>
            <a:ext cx="6096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46504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Space Grotesk"/>
              </a:rPr>
              <a:t>NEXT-GENERATION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788890"/>
            <a:ext cx="10001250" cy="613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8FAFC"/>
                </a:solidFill>
                <a:latin typeface="Space Grotesk"/>
              </a:rPr>
              <a:t>Large Language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592710"/>
            <a:ext cx="5810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Inter"/>
              </a:rPr>
              <a:t>Architectures, scaling laws, and real-world enterprise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81325"/>
            <a:ext cx="3505200" cy="1876425"/>
          </a:xfrm>
          <a:prstGeom prst="roundRect">
            <a:avLst>
              <a:gd name="adj" fmla="val 60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81325"/>
            <a:ext cx="3505200" cy="1876425"/>
          </a:xfrm>
          <a:prstGeom prst="roundRect">
            <a:avLst>
              <a:gd name="adj" fmla="val 60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81325"/>
            <a:ext cx="3505200" cy="1876425"/>
          </a:xfrm>
          <a:prstGeom prst="roundRect">
            <a:avLst>
              <a:gd name="adj" fmla="val 60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314700"/>
            <a:ext cx="25717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314700"/>
            <a:ext cx="2857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314700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Core Architectural Pillars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724275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Transformer Backbone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086225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Self-attention mechanism processing entire sequences in parallel.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724275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Scaling Laws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4086225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Performance predictability driven by parameter count and compute scale.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724275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Alignment Tuning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4086225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RLHF and constitutional AI for safe, helpful model responses.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95500" y="2909887"/>
            <a:ext cx="9486900" cy="3429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95500" y="3443287"/>
            <a:ext cx="9486900" cy="3429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095500" y="3976687"/>
            <a:ext cx="9486900" cy="3429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95500" y="4510087"/>
            <a:ext cx="9486900" cy="3429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5500" y="2909887"/>
            <a:ext cx="142279" cy="3429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95500" y="3443287"/>
            <a:ext cx="1660177" cy="3429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95500" y="3976687"/>
            <a:ext cx="3794670" cy="34290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95500" y="4510087"/>
            <a:ext cx="9486900" cy="3429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BENCHMARK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Evolution of Parameter Scale (Billions)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986087"/>
            <a:ext cx="1666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Inter"/>
              </a:rPr>
              <a:t>GPT-2 (2019)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519487"/>
            <a:ext cx="1666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Inter"/>
              </a:rPr>
              <a:t>GPT-3 (2020)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052887"/>
            <a:ext cx="1666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Inter"/>
              </a:rPr>
              <a:t>Llama 3 (2024)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586287"/>
            <a:ext cx="1666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Inter"/>
              </a:rPr>
              <a:t>GPT-4 (Est.)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09800" y="2909887"/>
            <a:ext cx="12322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Inter"/>
              </a:rPr>
              <a:t>1.5B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09800" y="3443287"/>
            <a:ext cx="1641127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Inter"/>
              </a:rPr>
              <a:t>175B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09800" y="3976687"/>
            <a:ext cx="377562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Inter"/>
              </a:rPr>
              <a:t>400B+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09800" y="4510087"/>
            <a:ext cx="94678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Inter"/>
              </a:rPr>
              <a:t>1.8T+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276600"/>
            <a:ext cx="381000" cy="381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943350"/>
            <a:ext cx="3810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3367087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4033837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62" y="3381375"/>
            <a:ext cx="219075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4048125"/>
            <a:ext cx="15240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5562" y="3471862"/>
            <a:ext cx="219075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850" y="4138612"/>
            <a:ext cx="19050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USE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Enterprise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76600"/>
            <a:ext cx="532566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Automated Software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533775"/>
            <a:ext cx="50720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Real-time code generation, debugging, and test automation.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43350"/>
            <a:ext cx="62007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Retrieval-Augmented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200525"/>
            <a:ext cx="48196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Enterprise search over proprietary documents with zero hallucination.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367087"/>
            <a:ext cx="5334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Intelligent Conversational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624262"/>
            <a:ext cx="5334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Advanced customer support automation with multi-turn context.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033837"/>
            <a:ext cx="5334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Unstructured Data Synthesis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291012"/>
            <a:ext cx="5334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Summarizing thousands of legal or financial records in 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67400" y="4048125"/>
            <a:ext cx="4572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5581" y="2781300"/>
            <a:ext cx="6700837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Space Grotesk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0375" y="3514725"/>
            <a:ext cx="6191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Shaping the future of trustworthy AI systems together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